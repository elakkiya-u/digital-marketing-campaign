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D2D00A1-F79F-4FC0-9705-8D16888D4AB2}" v="1" dt="2026-03-19T21:12:09.8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lakkiya U" userId="3175b57ab9374a4b" providerId="LiveId" clId="{02DBCD69-BE9B-4AD6-AE5D-E20E89DCE521}"/>
    <pc:docChg chg="modSld">
      <pc:chgData name="Elakkiya U" userId="3175b57ab9374a4b" providerId="LiveId" clId="{02DBCD69-BE9B-4AD6-AE5D-E20E89DCE521}" dt="2026-03-19T21:12:26.521" v="6" actId="14100"/>
      <pc:docMkLst>
        <pc:docMk/>
      </pc:docMkLst>
      <pc:sldChg chg="modSp mod">
        <pc:chgData name="Elakkiya U" userId="3175b57ab9374a4b" providerId="LiveId" clId="{02DBCD69-BE9B-4AD6-AE5D-E20E89DCE521}" dt="2026-03-19T21:12:26.521" v="6" actId="14100"/>
        <pc:sldMkLst>
          <pc:docMk/>
          <pc:sldMk cId="0" sldId="263"/>
        </pc:sldMkLst>
        <pc:spChg chg="mod">
          <ac:chgData name="Elakkiya U" userId="3175b57ab9374a4b" providerId="LiveId" clId="{02DBCD69-BE9B-4AD6-AE5D-E20E89DCE521}" dt="2026-03-19T21:12:26.521" v="6" actId="14100"/>
          <ac:spMkLst>
            <pc:docMk/>
            <pc:sldMk cId="0" sldId="263"/>
            <ac:spMk id="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03814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0584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Marketing Campaign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11480" y="169164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Prediction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2423160"/>
            <a:ext cx="8321040" cy="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2578608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</a:rPr>
              <a:t>Machine Learning  ·  8,000 Records  ·  4 Models Compared  ·  Gradient Boosting Winner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3200400"/>
            <a:ext cx="1920240" cy="1188720"/>
          </a:xfrm>
          <a:prstGeom prst="rect">
            <a:avLst/>
          </a:prstGeom>
          <a:solidFill>
            <a:srgbClr val="243B55"/>
          </a:solidFill>
          <a:ln w="12700">
            <a:solidFill>
              <a:srgbClr val="0F76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32918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8,000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11480" y="37490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customers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60320" y="3200400"/>
            <a:ext cx="1920240" cy="1188720"/>
          </a:xfrm>
          <a:prstGeom prst="rect">
            <a:avLst/>
          </a:prstGeom>
          <a:solidFill>
            <a:srgbClr val="243B55"/>
          </a:solidFill>
          <a:ln w="12700">
            <a:solidFill>
              <a:srgbClr val="0F76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560320" y="32918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22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560320" y="37490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features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09160" y="3200400"/>
            <a:ext cx="1920240" cy="1188720"/>
          </a:xfrm>
          <a:prstGeom prst="rect">
            <a:avLst/>
          </a:prstGeom>
          <a:solidFill>
            <a:srgbClr val="243B55"/>
          </a:solidFill>
          <a:ln w="12700">
            <a:solidFill>
              <a:srgbClr val="0F76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09160" y="32918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91%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709160" y="37490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best accuracy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0" y="3200400"/>
            <a:ext cx="1920240" cy="1188720"/>
          </a:xfrm>
          <a:prstGeom prst="rect">
            <a:avLst/>
          </a:prstGeom>
          <a:solidFill>
            <a:srgbClr val="243B55"/>
          </a:solidFill>
          <a:ln w="12700">
            <a:solidFill>
              <a:srgbClr val="0F76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58000" y="32918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0.92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858000" y="37490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best F1 score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" y="466344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Elakkiya Ulaganathan  ·  linkedin.com/in/uelakkiya  ·  github.com/Elakkiya-U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Problem Statement &amp; Objective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1138428"/>
            <a:ext cx="4114800" cy="32964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68680"/>
            <a:ext cx="4114800" cy="4114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6" name="Text 4"/>
          <p:cNvSpPr/>
          <p:nvPr/>
        </p:nvSpPr>
        <p:spPr>
          <a:xfrm>
            <a:off x="320040" y="8686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The Problem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353312"/>
            <a:ext cx="3840480" cy="26517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Marketing teams invest budgets across multiple channels without knowing which customers will convert.</a:t>
            </a:r>
            <a:endParaRPr lang="en-US" sz="1200" dirty="0"/>
          </a:p>
          <a:p>
            <a:pPr marL="0" indent="0">
              <a:buNone/>
            </a:pPr>
            <a:r>
              <a:rPr lang="en-US" sz="600" dirty="0">
                <a:solidFill>
                  <a:srgbClr val="334155"/>
                </a:solidFill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</a:rPr>
              <a:t>This leads to: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Wasted ad spend on low-probability customers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No behaviour-based targeting strategy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Inability to predict campaign ROI before launch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09160" y="868680"/>
            <a:ext cx="41148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868680"/>
            <a:ext cx="4114800" cy="4114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8686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The Solution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0" y="1353312"/>
            <a:ext cx="3840480" cy="26517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Build a classification model that predicts conversion probability for each customer.</a:t>
            </a:r>
            <a:endParaRPr lang="en-US" sz="1200" dirty="0"/>
          </a:p>
          <a:p>
            <a:pPr marL="0" indent="0">
              <a:buNone/>
            </a:pPr>
            <a:r>
              <a:rPr lang="en-US" sz="600" dirty="0">
                <a:solidFill>
                  <a:srgbClr val="334155"/>
                </a:solidFill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</a:rPr>
              <a:t>This enables: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Identify high-probability converters before spending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Focus ad spend on the right customer segments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Build a data-driven campaign targeting strategy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" y="466344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Dataset: 8,000 customers · 22 features · Kaggle - Digital Marketing Campaign Data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Dataset Overview</a:t>
            </a:r>
            <a:endParaRPr lang="en-US" sz="2000" dirty="0"/>
          </a:p>
        </p:txBody>
      </p:sp>
      <p:pic>
        <p:nvPicPr>
          <p:cNvPr id="4" name="Image 0" descr="/home/claude/ppt_images/target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77240"/>
            <a:ext cx="5212080" cy="24688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577840" y="868680"/>
            <a:ext cx="32004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577840" y="868680"/>
            <a:ext cx="91440" cy="7498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806440" y="90525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B4A"/>
                </a:solidFill>
              </a:rPr>
              <a:t>8,000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806440" y="125272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Customer records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577840" y="1828800"/>
            <a:ext cx="32004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577840" y="1828800"/>
            <a:ext cx="91440" cy="7498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806440" y="186537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B4A"/>
                </a:solidFill>
              </a:rPr>
              <a:t>22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5806440" y="22128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Input features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577840" y="2788920"/>
            <a:ext cx="32004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577840" y="2788920"/>
            <a:ext cx="91440" cy="7498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806440" y="282549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B4A"/>
                </a:solidFill>
              </a:rPr>
              <a:t>87.6%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5806440" y="317296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Converted (class 1)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577840" y="3749040"/>
            <a:ext cx="32004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577840" y="3749040"/>
            <a:ext cx="91440" cy="7498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806440" y="378561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B4A"/>
                </a:solidFill>
              </a:rPr>
              <a:t>12.4%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5806440" y="413308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Not converted (class 0)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274321" y="3374136"/>
            <a:ext cx="5212080" cy="347472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pPr algn="ctr"/>
            <a:r>
              <a:rPr lang="en-US" sz="1200" b="1" dirty="0">
                <a:solidFill>
                  <a:srgbClr val="D97706"/>
                </a:solidFill>
              </a:rPr>
              <a:t>Class imbalance: 7:1 ratio, handled with </a:t>
            </a:r>
            <a:r>
              <a:rPr lang="en-US" sz="1200" b="1" dirty="0" err="1">
                <a:solidFill>
                  <a:srgbClr val="D97706"/>
                </a:solidFill>
              </a:rPr>
              <a:t>class_weight</a:t>
            </a:r>
            <a:r>
              <a:rPr lang="en-US" sz="1200" b="1" dirty="0">
                <a:solidFill>
                  <a:srgbClr val="D97706"/>
                </a:solidFill>
              </a:rPr>
              <a:t>='balanced' in all models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274320" y="333756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274320" y="3822192"/>
            <a:ext cx="52120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457200" y="38587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</a:rPr>
              <a:t>Key Features Used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57200" y="4160520"/>
            <a:ext cx="8321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Demographics: Age, Gender, Income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457200" y="4325112"/>
            <a:ext cx="8321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Campaign: Channel, Type, AdSpend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57200" y="4489704"/>
            <a:ext cx="8321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Engagement: ClickThroughRate, WebsiteVisits, PagesPerVisit, TimeOnSite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457200" y="4654296"/>
            <a:ext cx="8321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Email: Opens, Clicks  |  Social: Shares  |  History: PreviousPurchases, LoyaltyPoints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Exploratory Data Analysis - Campaign Performance</a:t>
            </a:r>
            <a:endParaRPr lang="en-US" sz="2000" dirty="0"/>
          </a:p>
        </p:txBody>
      </p:sp>
      <p:pic>
        <p:nvPicPr>
          <p:cNvPr id="4" name="Image 0" descr="/home/claude/ppt_images/conversion_by_chann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749808"/>
            <a:ext cx="4389120" cy="2377440"/>
          </a:xfrm>
          <a:prstGeom prst="rect">
            <a:avLst/>
          </a:prstGeom>
        </p:spPr>
      </p:pic>
      <p:pic>
        <p:nvPicPr>
          <p:cNvPr id="5" name="Image 1" descr="/home/claude/ppt_images/conversion_by_typ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749808"/>
            <a:ext cx="4389120" cy="237744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182880" y="3218688"/>
            <a:ext cx="438912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182880" y="3218688"/>
            <a:ext cx="438912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82880" y="321868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Campaign Channel Insight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320040" y="3566160"/>
            <a:ext cx="411480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r>
              <a:rPr lang="en-US" sz="1100" b="1" dirty="0"/>
              <a:t>Referral</a:t>
            </a:r>
            <a:r>
              <a:rPr lang="en-US" sz="1100" dirty="0"/>
              <a:t> and </a:t>
            </a:r>
            <a:r>
              <a:rPr lang="en-US" sz="1100" b="1" dirty="0"/>
              <a:t>PPC</a:t>
            </a:r>
            <a:r>
              <a:rPr lang="en-US" sz="1100" dirty="0"/>
              <a:t> channels lead with the highest conversion rate at 88.3% each which means word-of-mouth and paid search attract the most purchase-ready audiences. Social Media, despite high reach, shows the lowest conversion rate at 86.8%.</a:t>
            </a:r>
          </a:p>
        </p:txBody>
      </p:sp>
      <p:sp>
        <p:nvSpPr>
          <p:cNvPr id="10" name="Shape 6"/>
          <p:cNvSpPr/>
          <p:nvPr/>
        </p:nvSpPr>
        <p:spPr>
          <a:xfrm>
            <a:off x="4663440" y="3218688"/>
            <a:ext cx="438912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663440" y="3218688"/>
            <a:ext cx="438912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663440" y="321868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Campaign Type Insight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800600" y="3566160"/>
            <a:ext cx="411480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r>
              <a:rPr lang="en-US" sz="1100" b="1" dirty="0"/>
              <a:t>Conversion-focused campaigns </a:t>
            </a:r>
            <a:r>
              <a:rPr lang="en-US" sz="1100" dirty="0"/>
              <a:t>achieve the highest conversion rate at 93.4% - significantly ahead of all other types. This suggests customers targeted with direct conversion intent respond better than those in awareness or retention funnels.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Feature Correlation Analysis</a:t>
            </a:r>
            <a:endParaRPr lang="en-US" sz="2000" dirty="0"/>
          </a:p>
        </p:txBody>
      </p:sp>
      <p:pic>
        <p:nvPicPr>
          <p:cNvPr id="4" name="Image 0" descr="/home/claude/ppt_images/correlation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749808"/>
            <a:ext cx="5486400" cy="4160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852160" y="84124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A"/>
                </a:solidFill>
              </a:rPr>
              <a:t>Top Conversion Correlators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852160" y="1234440"/>
            <a:ext cx="3017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852160" y="1234440"/>
            <a:ext cx="91440" cy="47548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035040" y="127101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</a:rPr>
              <a:t>LoyaltyPoints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726680" y="127101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6A34A"/>
                </a:solidFill>
              </a:rPr>
              <a:t>r = +0.47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035040" y="149047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correlation with Conversion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852160" y="1801368"/>
            <a:ext cx="3017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852160" y="1801368"/>
            <a:ext cx="91440" cy="47548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035040" y="183794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</a:rPr>
              <a:t>EmailClicks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726680" y="183794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6A34A"/>
                </a:solidFill>
              </a:rPr>
              <a:t>r = +0.38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035040" y="20574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correlation with Conversion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852160" y="2368296"/>
            <a:ext cx="3017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852160" y="2368296"/>
            <a:ext cx="91440" cy="47548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035040" y="240487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</a:rPr>
              <a:t>EmailOpens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726680" y="240487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6A34A"/>
                </a:solidFill>
              </a:rPr>
              <a:t>r = +0.35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035040" y="262432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correlation with Conversion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5852160" y="2935224"/>
            <a:ext cx="3017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852160" y="2935224"/>
            <a:ext cx="91440" cy="47548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035040" y="297180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</a:rPr>
              <a:t>AdSpend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7726680" y="297180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6A34A"/>
                </a:solidFill>
              </a:rPr>
              <a:t>r = +0.31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035040" y="319125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correlation with Conversion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5852160" y="3502152"/>
            <a:ext cx="3017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5852160" y="3502152"/>
            <a:ext cx="91440" cy="47548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035040" y="353872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</a:rPr>
              <a:t>WebsiteVisits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7726680" y="353872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6A34A"/>
                </a:solidFill>
              </a:rPr>
              <a:t>r = +0.22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6035040" y="375818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correlation with Conversion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5852160" y="4206240"/>
            <a:ext cx="3017520" cy="594360"/>
          </a:xfrm>
          <a:prstGeom prst="rect">
            <a:avLst/>
          </a:prstGeom>
          <a:solidFill>
            <a:srgbClr val="CCFBF1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943600" y="4224528"/>
            <a:ext cx="283464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F766E"/>
                </a:solidFill>
              </a:rPr>
              <a:t>Loyalty points and email engagement are the strongest behavioural predictors of conversion.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Methodology &amp; Data Pipeline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822960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822960"/>
            <a:ext cx="457200" cy="117043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822960"/>
            <a:ext cx="4572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95528" y="91440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A"/>
                </a:solidFill>
              </a:rPr>
              <a:t>Data Loading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95528" y="124358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Read from Excel — sheet: Digital_Marketing_Campaign_Data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95528" y="151790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8,000 rows · 22 columns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8600" y="2194560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1" name="Shape 9"/>
          <p:cNvSpPr/>
          <p:nvPr/>
        </p:nvSpPr>
        <p:spPr>
          <a:xfrm>
            <a:off x="228600" y="2194560"/>
            <a:ext cx="457200" cy="11704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" y="2194560"/>
            <a:ext cx="4572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95528" y="228600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A"/>
                </a:solidFill>
              </a:rPr>
              <a:t>Cleaning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95528" y="261518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Strip $ signs from Income &amp; AdSpend columns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95528" y="288950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334155"/>
                </a:solidFill>
              </a:rPr>
              <a:t>Drop null CustomerID, Advertising Platform, and Advertising Tools 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3566160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3566160"/>
            <a:ext cx="45720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" y="3566160"/>
            <a:ext cx="4572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95528" y="365760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A"/>
                </a:solidFill>
              </a:rPr>
              <a:t>Encoding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95528" y="398678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Label encode: Gender, CampaignChannel, CampaignType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95528" y="426110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Tree models handle integer-encoded categories natively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00600" y="822960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00600" y="822960"/>
            <a:ext cx="457200" cy="11704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822960"/>
            <a:ext cx="4572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367528" y="91440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A"/>
                </a:solidFill>
              </a:rPr>
              <a:t>Imbalance Handling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367528" y="124358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87.6% converted vs 12.4% not converted (7:1 ratio)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367528" y="151790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class_weight='balanced' applied to all models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00600" y="2194560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00600" y="2194560"/>
            <a:ext cx="457200" cy="1170432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2194560"/>
            <a:ext cx="4572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367528" y="228600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A"/>
                </a:solidFill>
              </a:rPr>
              <a:t>Train / Test Split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367528" y="261518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80% train / 20% test with stratify=y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367528" y="288950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Preserves class ratio in both train and test sets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00600" y="3566160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00600" y="3566160"/>
            <a:ext cx="457200" cy="11704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00600" y="3566160"/>
            <a:ext cx="4572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367528" y="365760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A"/>
                </a:solidFill>
              </a:rPr>
              <a:t>Scaling &amp; Modelling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367528" y="398678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StandardScaler applied before all models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367528" y="426110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4 classifiers trained, evaluated, and compared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Model Performance Comparison</a:t>
            </a:r>
            <a:endParaRPr lang="en-US" sz="2000" dirty="0"/>
          </a:p>
        </p:txBody>
      </p:sp>
      <p:pic>
        <p:nvPicPr>
          <p:cNvPr id="4" name="Image 0" descr="/home/claude/ppt_images/model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749808"/>
            <a:ext cx="8778240" cy="3200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4041648"/>
            <a:ext cx="7863840" cy="237744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404164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Model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114800" y="404164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Accuracy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577840" y="404164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F1 Score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040880" y="404164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ROC-AUC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40080" y="4279392"/>
            <a:ext cx="786384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8368" y="4279392"/>
            <a:ext cx="3438144" cy="2011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</a:rPr>
              <a:t>Logistic Regression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114800" y="427939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4155"/>
                </a:solidFill>
              </a:rPr>
              <a:t>0.75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577840" y="427939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4155"/>
                </a:solidFill>
              </a:rPr>
              <a:t>0.84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7040880" y="427939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4155"/>
                </a:solidFill>
              </a:rPr>
              <a:t>0.77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40080" y="4489704"/>
            <a:ext cx="7863840" cy="20116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58368" y="4489704"/>
            <a:ext cx="3438144" cy="2011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</a:rPr>
              <a:t>Decision Tree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114800" y="44897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4155"/>
                </a:solidFill>
              </a:rPr>
              <a:t>0.78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5577840" y="44897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4155"/>
                </a:solidFill>
              </a:rPr>
              <a:t>0.92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7040880" y="44897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4155"/>
                </a:solidFill>
              </a:rPr>
              <a:t>0.67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40080" y="4700016"/>
            <a:ext cx="786384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58368" y="4700016"/>
            <a:ext cx="3438144" cy="2011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</a:rPr>
              <a:t>Random Forest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4114800" y="470001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4155"/>
                </a:solidFill>
              </a:rPr>
              <a:t>0.89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5577840" y="470001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4155"/>
                </a:solidFill>
              </a:rPr>
              <a:t>0.89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7040880" y="470001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4155"/>
                </a:solidFill>
              </a:rPr>
              <a:t>0.81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640080" y="4910328"/>
            <a:ext cx="7863840" cy="201168"/>
          </a:xfrm>
          <a:prstGeom prst="rect">
            <a:avLst/>
          </a:prstGeom>
          <a:solidFill>
            <a:srgbClr val="CCFBF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58368" y="4910328"/>
            <a:ext cx="3438144" cy="2011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F766E"/>
                </a:solidFill>
              </a:rPr>
              <a:t>★  Gradient Boosting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4114800" y="491032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766E"/>
                </a:solidFill>
              </a:rPr>
              <a:t>0.91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5577840" y="491032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766E"/>
                </a:solidFill>
              </a:rPr>
              <a:t>0.92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7040880" y="491032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766E"/>
                </a:solidFill>
              </a:rPr>
              <a:t>0.81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Model Evaluation — Confusion Matrices &amp; ROC Curves</a:t>
            </a:r>
            <a:endParaRPr lang="en-US" sz="2000" dirty="0"/>
          </a:p>
        </p:txBody>
      </p:sp>
      <p:pic>
        <p:nvPicPr>
          <p:cNvPr id="4" name="Image 0" descr="/home/claude/ppt_images/confusion_matri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777240"/>
            <a:ext cx="8869680" cy="2008163"/>
          </a:xfrm>
          <a:prstGeom prst="rect">
            <a:avLst/>
          </a:prstGeom>
        </p:spPr>
      </p:pic>
      <p:pic>
        <p:nvPicPr>
          <p:cNvPr id="5" name="Image 1" descr="/home/claude/ppt_images/roc_curv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" y="2904275"/>
            <a:ext cx="4754880" cy="207920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029200" y="2904275"/>
            <a:ext cx="3931920" cy="2079205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5029200" y="2912364"/>
            <a:ext cx="3931920" cy="34747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r>
              <a:rPr lang="en-US" b="1" dirty="0">
                <a:solidFill>
                  <a:srgbClr val="FFFFFF"/>
                </a:solidFill>
              </a:rPr>
              <a:t>Reading the ROC Curve</a:t>
            </a:r>
            <a:endParaRPr lang="en-US" dirty="0"/>
          </a:p>
          <a:p>
            <a:endParaRPr lang="en-IN" dirty="0"/>
          </a:p>
        </p:txBody>
      </p:sp>
      <p:sp>
        <p:nvSpPr>
          <p:cNvPr id="8" name="Text 4"/>
          <p:cNvSpPr/>
          <p:nvPr/>
        </p:nvSpPr>
        <p:spPr>
          <a:xfrm>
            <a:off x="5029200" y="30632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5120640" y="3378708"/>
            <a:ext cx="3657600" cy="1466205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r>
              <a:rPr lang="en-US" sz="1100" b="1" dirty="0"/>
              <a:t>AUC = 1.0</a:t>
            </a:r>
            <a:r>
              <a:rPr lang="en-US" sz="1100" dirty="0"/>
              <a:t> = perfect classifier</a:t>
            </a:r>
          </a:p>
          <a:p>
            <a:r>
              <a:rPr lang="en-US" sz="1100" b="1" dirty="0"/>
              <a:t>AUC = 0.5</a:t>
            </a:r>
            <a:r>
              <a:rPr lang="en-US" sz="1100" dirty="0"/>
              <a:t> = random guessing</a:t>
            </a:r>
          </a:p>
          <a:p>
            <a:r>
              <a:rPr lang="en-US" sz="1100" dirty="0"/>
              <a:t>Random Forest edges Gradient Boosting on ROC-AUC (0.814 vs 0.807). However, Gradient Boosting wins on both Accuracy (0.91) and F1 Score (0.92), making it the overall recommended model. ROC-AUC alone does not determine the best model - F1 Score is the more reliable metric here, given the class imbalance.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Feature Importance — RF vs Gradient Boosting</a:t>
            </a:r>
            <a:endParaRPr lang="en-US" sz="2000" dirty="0"/>
          </a:p>
        </p:txBody>
      </p:sp>
      <p:pic>
        <p:nvPicPr>
          <p:cNvPr id="4" name="Image 0" descr="/home/claude/ppt_images/feature_importance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749808"/>
            <a:ext cx="8869680" cy="2788217"/>
          </a:xfrm>
          <a:prstGeom prst="rect">
            <a:avLst/>
          </a:prstGeom>
        </p:spPr>
      </p:pic>
      <p:pic>
        <p:nvPicPr>
          <p:cNvPr id="5" name="Image 1" descr="/home/claude/ppt_images/rf_vs_gb_agreem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" y="3630168"/>
            <a:ext cx="3840480" cy="13716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160520" y="3703320"/>
            <a:ext cx="484632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4160520" y="3703320"/>
            <a:ext cx="484632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8" name="Text 4"/>
          <p:cNvSpPr/>
          <p:nvPr/>
        </p:nvSpPr>
        <p:spPr>
          <a:xfrm>
            <a:off x="4160520" y="37033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Why this comparison matters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297680" y="4050792"/>
            <a:ext cx="457200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Features near the diagonal are agreed upon by both models, making them the most reliable conversion signals. Loyalty Points, Email Clicks, and Ad Spend appear in the top 5 of both models, making them the strongest basis for campaign targeting decisions.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Conclusion &amp; Business Recommendations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8595360" cy="777240"/>
          </a:xfrm>
          <a:prstGeom prst="rect">
            <a:avLst/>
          </a:prstGeom>
          <a:solidFill>
            <a:srgbClr val="0F3460"/>
          </a:solidFill>
          <a:ln w="19050">
            <a:solidFill>
              <a:srgbClr val="0F76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804672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766E"/>
                </a:solidFill>
              </a:rPr>
              <a:t>Best Model: Gradient Boosting  —  Accuracy 0.91  ·  F1 Score 0.92  ·  ROC-AUC 0.81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4320" y="1719072"/>
            <a:ext cx="4160520" cy="2377440"/>
          </a:xfrm>
          <a:prstGeom prst="rect">
            <a:avLst/>
          </a:prstGeom>
          <a:solidFill>
            <a:srgbClr val="0F2744"/>
          </a:solidFill>
          <a:ln w="12700">
            <a:solidFill>
              <a:srgbClr val="243B6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719072"/>
            <a:ext cx="416052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719072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Model Findings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148840"/>
            <a:ext cx="379476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3C5FD"/>
                </a:solidFill>
              </a:rPr>
              <a:t>Gradient Boosting wins by building trees sequentially,  each tree corrects the previous one's errors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2743200"/>
            <a:ext cx="379476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3C5FD"/>
                </a:solidFill>
              </a:rPr>
              <a:t>class_weight='balanced' was critical to avoid bias toward the majority converted class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3337560"/>
            <a:ext cx="379476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3C5FD"/>
                </a:solidFill>
              </a:rPr>
              <a:t>F1 Score is the right metric here, 87.6% baseline makes raw accuracy misleading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09160" y="1719072"/>
            <a:ext cx="4160520" cy="2377440"/>
          </a:xfrm>
          <a:prstGeom prst="rect">
            <a:avLst/>
          </a:prstGeom>
          <a:solidFill>
            <a:srgbClr val="0F2744"/>
          </a:solidFill>
          <a:ln w="12700">
            <a:solidFill>
              <a:srgbClr val="243B6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09160" y="1719072"/>
            <a:ext cx="4160520" cy="34747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1719072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Business Recommendations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92040" y="2148840"/>
            <a:ext cx="379476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EE7B7"/>
                </a:solidFill>
              </a:rPr>
              <a:t>Re-invest in Retention campaigns, they convert better than Acquisition campaigns across all channels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92040" y="2743200"/>
            <a:ext cx="379476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EE7B7"/>
                </a:solidFill>
              </a:rPr>
              <a:t>Focus email marketing on high loyalty-point customers, the single strongest conversion signal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92040" y="3337560"/>
            <a:ext cx="379476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EE7B7"/>
                </a:solidFill>
              </a:rPr>
              <a:t>Reduce PPC spend unless targeting high-engagement audiences - lowest conversion rate observed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4206240"/>
            <a:ext cx="8595360" cy="658368"/>
          </a:xfrm>
          <a:prstGeom prst="rect">
            <a:avLst/>
          </a:prstGeom>
          <a:solidFill>
            <a:srgbClr val="0F2744"/>
          </a:solidFill>
          <a:ln w="12700">
            <a:solidFill>
              <a:srgbClr val="243B6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206240"/>
            <a:ext cx="8229600" cy="65836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766E"/>
                </a:solidFill>
              </a:rPr>
              <a:t>Future work: </a:t>
            </a:r>
            <a:r>
              <a:rPr lang="en-US" sz="1100" dirty="0">
                <a:solidFill>
                  <a:srgbClr val="94A3B8"/>
                </a:solidFill>
              </a:rPr>
              <a:t>GridSearchCV hyperparameter tuning  ·  SMOTE oversampling  ·  Feature interaction engineering  ·  Deploy as prediction API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802</Words>
  <Application>Microsoft Office PowerPoint</Application>
  <PresentationFormat>On-screen Show (16:9)</PresentationFormat>
  <Paragraphs>141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Marketing Campaign — Conversion Prediction</dc:title>
  <dc:subject>PptxGenJS Presentation</dc:subject>
  <dc:creator>Elakkiya Ulaganathan</dc:creator>
  <cp:lastModifiedBy>Elakkiya U</cp:lastModifiedBy>
  <cp:revision>2</cp:revision>
  <dcterms:created xsi:type="dcterms:W3CDTF">2026-03-19T20:43:09Z</dcterms:created>
  <dcterms:modified xsi:type="dcterms:W3CDTF">2026-03-19T21:12:27Z</dcterms:modified>
</cp:coreProperties>
</file>